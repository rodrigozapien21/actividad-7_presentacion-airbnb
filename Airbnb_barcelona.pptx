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74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368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0E4B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Entire home/apt</c:v>
                </c:pt>
                <c:pt idx="1">
                  <c:v>Private room</c:v>
                </c:pt>
                <c:pt idx="2">
                  <c:v>Shared room</c:v>
                </c:pt>
                <c:pt idx="3">
                  <c:v>Hotel room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10844</c:v>
                </c:pt>
                <c:pt idx="1">
                  <c:v>4262</c:v>
                </c:pt>
                <c:pt idx="2">
                  <c:v>119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A1-C247-83D5-F9794122FE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3E8E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la Dreta de l'Eixample</c:v>
                </c:pt>
                <c:pt idx="1">
                  <c:v>el Raval</c:v>
                </c:pt>
                <c:pt idx="2">
                  <c:v>Sant Pere/Sta.Caterina/Ribera</c:v>
                </c:pt>
                <c:pt idx="3">
                  <c:v>la Vila de Gràcia</c:v>
                </c:pt>
                <c:pt idx="4">
                  <c:v>la Sagrada Família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2145</c:v>
                </c:pt>
                <c:pt idx="1">
                  <c:v>1031</c:v>
                </c:pt>
                <c:pt idx="2">
                  <c:v>925</c:v>
                </c:pt>
                <c:pt idx="3">
                  <c:v>924</c:v>
                </c:pt>
                <c:pt idx="4">
                  <c:v>910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7F-0147-B231-0A231E68B4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0E4B6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C2B33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3.5-40</c:v>
                </c:pt>
                <c:pt idx="1">
                  <c:v>40-77</c:v>
                </c:pt>
                <c:pt idx="2">
                  <c:v>77-114</c:v>
                </c:pt>
                <c:pt idx="3">
                  <c:v>114-151</c:v>
                </c:pt>
                <c:pt idx="4">
                  <c:v>151-187</c:v>
                </c:pt>
                <c:pt idx="5">
                  <c:v>187-224</c:v>
                </c:pt>
                <c:pt idx="6">
                  <c:v>224-261</c:v>
                </c:pt>
                <c:pt idx="7">
                  <c:v>261-298</c:v>
                </c:pt>
                <c:pt idx="8">
                  <c:v>298-334</c:v>
                </c:pt>
                <c:pt idx="9">
                  <c:v>334-371</c:v>
                </c:pt>
                <c:pt idx="10">
                  <c:v>371-408</c:v>
                </c:pt>
                <c:pt idx="11">
                  <c:v>408-445</c:v>
                </c:pt>
                <c:pt idx="12">
                  <c:v>445-481</c:v>
                </c:pt>
                <c:pt idx="13">
                  <c:v>481-518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1051</c:v>
                </c:pt>
                <c:pt idx="1">
                  <c:v>1674</c:v>
                </c:pt>
                <c:pt idx="2">
                  <c:v>1691</c:v>
                </c:pt>
                <c:pt idx="3">
                  <c:v>1370</c:v>
                </c:pt>
                <c:pt idx="4">
                  <c:v>3845</c:v>
                </c:pt>
                <c:pt idx="5">
                  <c:v>1188</c:v>
                </c:pt>
                <c:pt idx="6">
                  <c:v>1185</c:v>
                </c:pt>
                <c:pt idx="7">
                  <c:v>990</c:v>
                </c:pt>
                <c:pt idx="8">
                  <c:v>720</c:v>
                </c:pt>
                <c:pt idx="9">
                  <c:v>563</c:v>
                </c:pt>
                <c:pt idx="10">
                  <c:v>376</c:v>
                </c:pt>
                <c:pt idx="11">
                  <c:v>279</c:v>
                </c:pt>
                <c:pt idx="12">
                  <c:v>205</c:v>
                </c:pt>
                <c:pt idx="13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4D-A24B-83B3-CC4D9262606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A82"/>
                    </a:solidFill>
                    <a:latin typeface="Arial"/>
                  </a:defRPr>
                </a:pPr>
                <a:r>
                  <a:rPr lang="es-MX" sz="1000" b="0" i="0" u="none" strike="noStrike">
                    <a:solidFill>
                      <a:srgbClr val="6B7A82"/>
                    </a:solidFill>
                    <a:latin typeface="Arial"/>
                  </a:rPr>
                  <a:t>Rango de precio (€/noche)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D9793F"/>
            </a:solidFill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0-14</c:v>
                </c:pt>
                <c:pt idx="1">
                  <c:v>14-27</c:v>
                </c:pt>
                <c:pt idx="2">
                  <c:v>27-41</c:v>
                </c:pt>
                <c:pt idx="3">
                  <c:v>41-55</c:v>
                </c:pt>
                <c:pt idx="4">
                  <c:v>55-68</c:v>
                </c:pt>
                <c:pt idx="5">
                  <c:v>68-82</c:v>
                </c:pt>
                <c:pt idx="6">
                  <c:v>82-96</c:v>
                </c:pt>
                <c:pt idx="7">
                  <c:v>96-109</c:v>
                </c:pt>
                <c:pt idx="8">
                  <c:v>109-123</c:v>
                </c:pt>
                <c:pt idx="9">
                  <c:v>123-137</c:v>
                </c:pt>
                <c:pt idx="10">
                  <c:v>137-150</c:v>
                </c:pt>
                <c:pt idx="11">
                  <c:v>150-164</c:v>
                </c:pt>
                <c:pt idx="12">
                  <c:v>164-177</c:v>
                </c:pt>
                <c:pt idx="13">
                  <c:v>177-191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10057</c:v>
                </c:pt>
                <c:pt idx="1">
                  <c:v>1192</c:v>
                </c:pt>
                <c:pt idx="2">
                  <c:v>659</c:v>
                </c:pt>
                <c:pt idx="3">
                  <c:v>524</c:v>
                </c:pt>
                <c:pt idx="4">
                  <c:v>495</c:v>
                </c:pt>
                <c:pt idx="5">
                  <c:v>384</c:v>
                </c:pt>
                <c:pt idx="6">
                  <c:v>354</c:v>
                </c:pt>
                <c:pt idx="7">
                  <c:v>337</c:v>
                </c:pt>
                <c:pt idx="8">
                  <c:v>259</c:v>
                </c:pt>
                <c:pt idx="9">
                  <c:v>284</c:v>
                </c:pt>
                <c:pt idx="10">
                  <c:v>236</c:v>
                </c:pt>
                <c:pt idx="11">
                  <c:v>185</c:v>
                </c:pt>
                <c:pt idx="12">
                  <c:v>181</c:v>
                </c:pt>
                <c:pt idx="13">
                  <c:v>146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64-3746-81C6-0F969630B5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Anuncios</c:v>
                </c:pt>
              </c:strCache>
            </c:strRef>
          </c:tx>
          <c:spPr>
            <a:solidFill>
              <a:srgbClr val="3E8E86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3.98-4.06</c:v>
                </c:pt>
                <c:pt idx="1">
                  <c:v>4.06-4.14</c:v>
                </c:pt>
                <c:pt idx="2">
                  <c:v>4.14-4.22</c:v>
                </c:pt>
                <c:pt idx="3">
                  <c:v>4.22-4.30</c:v>
                </c:pt>
                <c:pt idx="4">
                  <c:v>4.30-4.38</c:v>
                </c:pt>
                <c:pt idx="5">
                  <c:v>4.38-4.46</c:v>
                </c:pt>
                <c:pt idx="6">
                  <c:v>4.46-4.54</c:v>
                </c:pt>
                <c:pt idx="7">
                  <c:v>4.54-4.62</c:v>
                </c:pt>
                <c:pt idx="8">
                  <c:v>4.62-4.70</c:v>
                </c:pt>
                <c:pt idx="9">
                  <c:v>4.70-4.78</c:v>
                </c:pt>
                <c:pt idx="10">
                  <c:v>4.78-4.86</c:v>
                </c:pt>
                <c:pt idx="11">
                  <c:v>4.86-4.94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642</c:v>
                </c:pt>
                <c:pt idx="1">
                  <c:v>225</c:v>
                </c:pt>
                <c:pt idx="2">
                  <c:v>325</c:v>
                </c:pt>
                <c:pt idx="3">
                  <c:v>534</c:v>
                </c:pt>
                <c:pt idx="4">
                  <c:v>752</c:v>
                </c:pt>
                <c:pt idx="5">
                  <c:v>854</c:v>
                </c:pt>
                <c:pt idx="6">
                  <c:v>1228</c:v>
                </c:pt>
                <c:pt idx="7">
                  <c:v>5603</c:v>
                </c:pt>
                <c:pt idx="8">
                  <c:v>1094</c:v>
                </c:pt>
                <c:pt idx="9">
                  <c:v>1151</c:v>
                </c:pt>
                <c:pt idx="10">
                  <c:v>859</c:v>
                </c:pt>
                <c:pt idx="11">
                  <c:v>482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B4-9444-B105-31FEE587DC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75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FEFEF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A8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900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48640"/>
            <a:ext cx="457200" cy="457200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1247120" y="1188720"/>
            <a:ext cx="274320" cy="274320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10881360" y="1737360"/>
            <a:ext cx="201168" cy="201168"/>
          </a:xfrm>
          <a:prstGeom prst="ellipse">
            <a:avLst/>
          </a:prstGeom>
          <a:solidFill>
            <a:srgbClr val="3E8E8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10424160" y="5943600"/>
            <a:ext cx="320040" cy="320040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0881360" y="6355080"/>
            <a:ext cx="201168" cy="201168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1338560" y="5852160"/>
            <a:ext cx="164592" cy="164592"/>
          </a:xfrm>
          <a:prstGeom prst="ellipse">
            <a:avLst/>
          </a:prstGeom>
          <a:solidFill>
            <a:srgbClr val="3E8E8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E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 DE DATOS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Barcelona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 err="1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r>
              <a:rPr lang="en-US" sz="1500" i="1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nulos · Tratamiento de atípicos · Análisis univariado de frecuencias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2011680" cy="0"/>
          </a:xfrm>
          <a:prstGeom prst="line">
            <a:avLst/>
          </a:prstGeom>
          <a:noFill/>
          <a:ln w="38100">
            <a:solidFill>
              <a:srgbClr val="D97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Zapien Barrios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B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A01424400</a:t>
            </a:r>
            <a:endParaRPr lang="en-US" sz="12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extendido de Inside Airbnb para la ciudad de Barcelona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4B64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15,293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alojamientos (filas)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4B64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383280" y="2423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→ 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2044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tras la limpieza inicial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4B64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5508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columnas eliminados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21031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0E4B64"/>
          </a:solidFill>
          <a:ln/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9052560" y="242316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6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189720" y="324612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nulos al finalizar el proceso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29768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</a:t>
            </a: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Airbnb — Barcelona.csv (listado resumido, 15,406 filas / 19 columnas) y su versión extendida barcelona.csv (15,293 filas / 90 columnas), usada como base principal del pipeline de limpieza.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n-US" sz="12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ambos archivos (15,406 vs 15,293 filas) corresponde a variaciones normales entre el listado resumido y el extendido del mismo scrape de Inside Airbnb.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 Filtrado y extracción de datos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columnas relevantes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archivo extendido (90 columnas) se eliminaron 40 columnas agrupadas en 3 criterios, dejando 50 columnas de trabajo: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31520" y="22219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Enlaces / URLs (7)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532888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listing_url, picture_url, host_url, host_picture_url, description, host_about…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136392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731520" y="320954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nulas (12)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neighborhood_overview, host_since, host_response_time, instant_bookable…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123944"/>
            <a:ext cx="5577840" cy="868680"/>
          </a:xfrm>
          <a:prstGeom prst="roundRect">
            <a:avLst>
              <a:gd name="adj" fmla="val 6316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731520" y="4197096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4B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Redundantes (21)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507992"/>
            <a:ext cx="5212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scrape_id, minimum/maximum_minimum_nights, price_quote_*, availability_eoy…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515721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corrigió el formato de la columna price (eliminación de "$" y comas, conversión a float) para habilitar su análisis numérico.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1188720"/>
            <a:ext cx="0" cy="5120640"/>
          </a:xfrm>
          <a:prstGeom prst="line">
            <a:avLst/>
          </a:prstGeom>
          <a:noFill/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583680" y="1143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de indexado practicadas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583680" y="1673352"/>
            <a:ext cx="82296" cy="82296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812280" y="15544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columnas por posición (array[:, [i, j, k]])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359152"/>
            <a:ext cx="82296" cy="82296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81228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Extracción de filas por índice, rango y muestreo sistemático (cada 200 filas)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83680" y="3044952"/>
            <a:ext cx="82296" cy="82296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6812280" y="2926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Filtrado condicional (isin, comparaciones booleanas, combinación de condiciones con &amp; y |)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3730752"/>
            <a:ext cx="82296" cy="82296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812280" y="3611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columnas impares/pares (iloc con slicing)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583680" y="4416552"/>
            <a:ext cx="82296" cy="82296"/>
          </a:xfrm>
          <a:prstGeom prst="ellipse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6812280" y="4297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 por columnas/filas de posición prima (map/filter aplicado a índices)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 Imputación de valores nulos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variable se trató según su tipo y el significado de su ausencia, evitando sesgar los resultados.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286000" cy="365760"/>
          </a:xfrm>
          <a:prstGeom prst="rect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variable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34640" y="1600200"/>
            <a:ext cx="3657600" cy="365760"/>
          </a:xfrm>
          <a:prstGeom prst="rect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926080" y="1600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columnas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aplicada y justificación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2860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sin dato claro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36576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2926080" y="196596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host_name, host_location, first_review, last_review, license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6492240" y="1965960"/>
            <a:ext cx="512064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583680" y="196596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 descriptiva ("Desconocido", "No especificado", "Sin reseñas", "Sin licencia registrada")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548640" y="2624328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640080" y="2624328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binarias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834640" y="2624328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926080" y="26243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host_is_superhost, host_has_profile_pic, host_identity_verified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492240" y="2624328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6583680" y="2624328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(valor más frecuente de la columna)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548640" y="3282696"/>
            <a:ext cx="22860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0080" y="3282696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 continuas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34640" y="3282696"/>
            <a:ext cx="36576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2926080" y="328269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bathrooms, bedrooms, beds, price, hosts_time_as_user/host_years, host_listings_count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6492240" y="3282696"/>
            <a:ext cx="512064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6583680" y="3282696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(robusta ante valores extremos)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48640" y="3941064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640080" y="3941064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(0–5)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834640" y="3941064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926080" y="394106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review_scores_rating y las 6 subcategorías de review_scores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6492240" y="3941064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583680" y="3941064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— un promedio bajo distorsionaría el servicio real cuando el dato simplemente falta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548640" y="4599432"/>
            <a:ext cx="22860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640080" y="4599432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 / calculada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2834640" y="4599432"/>
            <a:ext cx="365760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926080" y="459943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estimated_revenue_l365d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492240" y="4599432"/>
            <a:ext cx="5120640" cy="658368"/>
          </a:xfrm>
          <a:prstGeom prst="rect">
            <a:avLst/>
          </a:prstGeom>
          <a:solidFill>
            <a:srgbClr val="F7F4EE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6583680" y="4599432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× estimated_occupancy_l365d (np.where) en vez de una constante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548640" y="5257800"/>
            <a:ext cx="22860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640080" y="525780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 de numéricas (&lt;5 nulos)</a:t>
            </a:r>
            <a:endParaRPr lang="en-US" sz="970" dirty="0"/>
          </a:p>
        </p:txBody>
      </p:sp>
      <p:sp>
        <p:nvSpPr>
          <p:cNvPr id="42" name="Shape 40"/>
          <p:cNvSpPr/>
          <p:nvPr/>
        </p:nvSpPr>
        <p:spPr>
          <a:xfrm>
            <a:off x="2834640" y="5257800"/>
            <a:ext cx="365760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2926080" y="52578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numéricas remanentes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6492240" y="5257800"/>
            <a:ext cx="5120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6583680" y="5257800"/>
            <a:ext cx="4937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7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general de cada columna</a:t>
            </a:r>
            <a:endParaRPr lang="en-US" sz="970" dirty="0"/>
          </a:p>
        </p:txBody>
      </p:sp>
      <p:sp>
        <p:nvSpPr>
          <p:cNvPr id="46" name="Text 44"/>
          <p:cNvSpPr/>
          <p:nvPr/>
        </p:nvSpPr>
        <p:spPr>
          <a:xfrm>
            <a:off x="548640" y="605332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E8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barcelona_sin_nulos.csv — 0 valores nulos en las 50 columnas trabajadas.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7FA6CD3B-B998-74EA-C765-7B71F8AC21FC}"/>
              </a:ext>
            </a:extLst>
          </p:cNvPr>
          <p:cNvSpPr txBox="1"/>
          <p:nvPr/>
        </p:nvSpPr>
        <p:spPr>
          <a:xfrm>
            <a:off x="11744696" y="649580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MX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c) Tratamiento de valores atípicos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del rango intercuartílico (IQR)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49961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separaron las columnas cualitativas de las cuantitativas para aplicar el tratamiento solo a estas últimas.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48640" y="2176272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1214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calcularon Q1 (percentil 25) y Q3 (percentil 75) de cada variable cuantitativa.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2798064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548640" y="27980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Q1. Límites: superior = Q3 + 1.5·IQR, inferior = Q1 − 1.5·IQR.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8640" y="3419856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548640" y="34198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33649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valores fuera de esos límites se marcaron como NaN (no se eliminaron las filas).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48640" y="4041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98678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nuevos NaN generados se re-imputaron con la mediana de cada columna.</a:t>
            </a:r>
            <a:endParaRPr lang="en-US" sz="1130" dirty="0"/>
          </a:p>
        </p:txBody>
      </p:sp>
      <p:sp>
        <p:nvSpPr>
          <p:cNvPr id="19" name="Shape 17"/>
          <p:cNvSpPr/>
          <p:nvPr/>
        </p:nvSpPr>
        <p:spPr>
          <a:xfrm>
            <a:off x="548640" y="4663440"/>
            <a:ext cx="310896" cy="310896"/>
          </a:xfrm>
          <a:prstGeom prst="ellipse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60857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reintegraron las columnas cualitativas con las cuantitativas ya tratadas → barcelona_limpios.csv.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492240" y="1463040"/>
            <a:ext cx="5120640" cy="3749040"/>
          </a:xfrm>
          <a:prstGeom prst="roundRect">
            <a:avLst>
              <a:gd name="adj" fmla="val 1951"/>
            </a:avLst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— límites calculados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68680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Lím. inferior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149840" y="21488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A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Lím. superior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766560" y="256946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(€)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686800" y="25694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−118.7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149840" y="25694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518.3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766560" y="299008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0" y="2990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149840" y="2990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766560" y="341071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bedrooms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686800" y="3410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0149840" y="341071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766560" y="383133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686800" y="38313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149840" y="3831336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9.5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766560" y="42519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86800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0149840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76.0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766560" y="45720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se aplicó de forma sistemática a las ~29 variables cuantitativas del dataset limpio.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Hallazgos: perfil de los hosts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univariado de frecuencias — variables categóricas del host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2971800" cy="73152"/>
          </a:xfrm>
          <a:prstGeom prst="roundRect">
            <a:avLst/>
          </a:prstGeom>
          <a:solidFill>
            <a:srgbClr val="D9793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97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25.7%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hosts son Superhost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3,932 de 15,293 — 74.3% no lo son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51960" y="19202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480560" y="2148840"/>
            <a:ext cx="2971800" cy="73152"/>
          </a:xfrm>
          <a:prstGeom prst="roundRect">
            <a:avLst/>
          </a:prstGeom>
          <a:solidFill>
            <a:srgbClr val="3E8E8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251960" y="2331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3E8E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97.9%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48056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hosts tiene foto de perfil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3611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14,975 de 15,293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955280" y="19202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2971800" cy="73152"/>
          </a:xfrm>
          <a:prstGeom prst="roundRect">
            <a:avLst/>
          </a:prstGeom>
          <a:solidFill>
            <a:srgbClr val="0E4B64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7955280" y="23317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96.9%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183880" y="32004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hosts tiene identidad verificada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83880" y="36118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14,818 de 15,293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está dominado por hosts con perfiles consolidados (foto e identidad verificada casi universales), aunque solo 1 de cada 4 alcanza el estatus de Superhost — un indicador más exigente de calidad de servicio.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Hallazgos: tipo de alojamiento y ubicación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alojamiento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Barrios con más anuncios (top 5)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217920" y="1417320"/>
          <a:ext cx="54864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777240" y="4498848"/>
            <a:ext cx="10607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de cada 10 anuncios (70.9%) son unidades completas (Entire home/apt); las habitaciones privadas representan 27.9% y los cuartos compartidos u hoteles son marginales (&lt;1.2%).
</a:t>
            </a:r>
            <a:r>
              <a:rPr lang="en-US" sz="125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oferta se concentra en el centro de la ciudad: los 5 barrios principales (Eixample, Ciutat Vella y Gràcia) agrupan ~38.7% de todos los alojamientos.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Hallazgos: distribución de precios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aplicando la Regla de Sturges (14 intervalos, n = 15,293)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112471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92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clave: </a:t>
            </a:r>
            <a:r>
              <a:rPr lang="en-US" sz="130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rango de 151–187 €/noche concentra el mayor número de anuncios (3,845 — 25.1% del total), muy por encima de cualquier otro intervalo. La distribución muestra una cola larga hacia precios altos: solo 156 anuncios (1.0%) superan los 481 €/noche.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E4B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Hallazgos: reviews y calificaciones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reseñas por anuncio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6263640" y="10515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general (review_scores_value)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6217920" y="141732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5262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7F4EE"/>
          </a:solidFill>
          <a:ln w="12700">
            <a:solidFill>
              <a:srgbClr val="E7E1D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4"/>
          <p:cNvSpPr/>
          <p:nvPr/>
        </p:nvSpPr>
        <p:spPr>
          <a:xfrm>
            <a:off x="777240" y="466344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65.8% de los anuncios (10,057) tiene entre 0 y 14 reseñas — la mayoría de las propiedades son relativamente nuevas o poco reseñadas.
</a:t>
            </a:r>
            <a:r>
              <a:rPr lang="en-US" sz="1250" b="1" dirty="0">
                <a:solidFill>
                  <a:srgbClr val="D97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50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está muy bien evaluado en general: 36.6% de los anuncios se agrupa en el rango 4.54–4.62, y la gran mayoría supera 4.3 sobre 5.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4B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463040" cy="0"/>
          </a:xfrm>
          <a:prstGeom prst="line">
            <a:avLst/>
          </a:prstGeom>
          <a:noFill/>
          <a:ln w="38100">
            <a:solidFill>
              <a:srgbClr val="D9793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8016" cy="128016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914400" y="1554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redujo el dataset de 90 a 50 columnas relevantes y eliminó por completo los valores nulos mediante estrategias diferenciadas por tipo de variable (moda, mediana, constantes descriptivas y cálculo derivado).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28016" cy="128016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tratamiento de atípicos con IQR corrigió valores extremos sin descartar registros completos, preservando el tamaño de la muestra (15,293 alojamientos).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28016" cy="128016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Airbnb en Barcelona está dominado por unidades completas (70.9%), concentradas en el centro histórico (Eixample, Ciutat Vella, Gràcia), con precios típicos entre 150–190 €/noche.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120640"/>
            <a:ext cx="128016" cy="128016"/>
          </a:xfrm>
          <a:prstGeom prst="ellipse">
            <a:avLst/>
          </a:prstGeom>
          <a:solidFill>
            <a:srgbClr val="E8A6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hosts muestran perfiles consolidados (&gt;96% con identidad verificada) y el servicio está bien evaluado (mayoría con calificación &gt; 4.3/5), aunque solo 1 de cada 4 es Superhost.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>
                    <a:lumMod val="8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1243</Words>
  <Application>Microsoft Macintosh PowerPoint</Application>
  <PresentationFormat>Panorámica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RODRIGO ZAPIEN BARRIOS</cp:lastModifiedBy>
  <cp:revision>2</cp:revision>
  <dcterms:created xsi:type="dcterms:W3CDTF">2026-09-10T19:59:12Z</dcterms:created>
  <dcterms:modified xsi:type="dcterms:W3CDTF">2026-09-11T05:25:45Z</dcterms:modified>
</cp:coreProperties>
</file>